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81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4C051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4754880" cy="4754880"/>
          </a:xfrm>
          <a:prstGeom prst="ellipse">
            <a:avLst/>
          </a:prstGeom>
          <a:solidFill>
            <a:srgbClr val="BE123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71600"/>
            <a:ext cx="1051560" cy="1051560"/>
          </a:xfrm>
          <a:prstGeom prst="roundRect">
            <a:avLst>
              <a:gd name="adj" fmla="val 19130"/>
            </a:avLst>
          </a:prstGeom>
          <a:solidFill>
            <a:srgbClr val="E11D4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🩸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VN-BECS V2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ECDD3"/>
                </a:solidFill>
              </a:rPr>
              <a:t>越南血液管理系統 — 企業級血液電腦作業系統</a:t>
            </a:r>
            <a:endParaRPr lang="en-US" sz="1800" dirty="0"/>
          </a:p>
          <a:p>
            <a:pPr indent="0" marL="0">
              <a:buNone/>
            </a:pPr>
            <a:r>
              <a:rPr lang="en-US" sz="1450" dirty="0">
                <a:solidFill>
                  <a:srgbClr val="FBCFE8"/>
                </a:solidFill>
              </a:rPr>
              <a:t>Vietnam Blood Establishment Computer System</a:t>
            </a:r>
            <a:endParaRPr lang="en-US" sz="1800" dirty="0"/>
          </a:p>
          <a:p>
            <a:pPr indent="0" marL="0">
              <a:buNone/>
            </a:pPr>
            <a:r>
              <a:rPr lang="en-US" sz="1450" i="1" dirty="0">
                <a:solidFill>
                  <a:srgbClr val="FBCFE8"/>
                </a:solidFill>
              </a:rPr>
              <a:t>Hệ thống Quản lý Máu Lâm sàng Doanh nghiệp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4732020" cy="384048"/>
          </a:xfrm>
          <a:prstGeom prst="roundRect">
            <a:avLst>
              <a:gd name="adj" fmla="val 50000"/>
            </a:avLst>
          </a:prstGeom>
          <a:solidFill>
            <a:srgbClr val="4C0519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47320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ECDD3"/>
                </a:solidFill>
              </a:rPr>
              <a:t>Next.js 16 · Supabase/PostgreSQL · Firebase App Hosting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97880" y="5074920"/>
            <a:ext cx="2167128" cy="384048"/>
          </a:xfrm>
          <a:prstGeom prst="roundRect">
            <a:avLst>
              <a:gd name="adj" fmla="val 50000"/>
            </a:avLst>
          </a:prstGeom>
          <a:solidFill>
            <a:srgbClr val="4C0519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5074920"/>
            <a:ext cx="21671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ECDD3"/>
                </a:solidFill>
              </a:rPr>
              <a:t>ISBT 128 · HL7 FHIR R4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5074920"/>
            <a:ext cx="2866644" cy="384048"/>
          </a:xfrm>
          <a:prstGeom prst="roundRect">
            <a:avLst>
              <a:gd name="adj" fmla="val 50000"/>
            </a:avLst>
          </a:prstGeom>
          <a:solidFill>
            <a:srgbClr val="4C0519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5074920"/>
            <a:ext cx="28666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ECDD3"/>
                </a:solidFill>
              </a:rPr>
              <a:t>Technical Overview · 2026-06-08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DA4AF"/>
                </a:solidFill>
              </a:rPr>
              <a:t>PILOT / VALIDATION — not authorized for live clinical transfusion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專案目的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Project Purpose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Mục đích Dự án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</a:rPr>
              <a:t>以單一受控平台貫穿「捐血者 → 受血者」完整血液鏈，把安全規則寫進系統。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</a:rPr>
              <a:t>A single controlled platform across the full vein-to-vein chain — safety rules encoded in the system, not human memory.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09728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</a:rPr>
              <a:t>輸血安全優先</a:t>
            </a:r>
            <a:endParaRPr lang="en-US" sz="135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Transfusion safety first — state machine blocks illegal transitions</a:t>
            </a:r>
            <a:endParaRPr lang="en-US" sz="1350" dirty="0"/>
          </a:p>
          <a:p>
            <a:pPr lvl="1" indent="0" marL="0"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64748B"/>
                </a:solidFill>
              </a:rPr>
              <a:t>An toàn truyền máu hàng đầu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</a:rPr>
              <a:t>端到端可追溯（ISBT 128 雙向 Lookback）</a:t>
            </a:r>
            <a:endParaRPr lang="en-US" sz="135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End-to-end traceability with ISBT 128 donor↔recipient lookback</a:t>
            </a:r>
            <a:endParaRPr lang="en-US" sz="1350" dirty="0"/>
          </a:p>
          <a:p>
            <a:pPr lvl="1" indent="0" marL="0"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64748B"/>
                </a:solidFill>
              </a:rPr>
              <a:t>Truy vết đầu-cuối (Lookback hai chiều)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</a:rPr>
              <a:t>法規對齊（VN26 / AABB / cGMP / 21 CFR Part 11 / ISO）</a:t>
            </a:r>
            <a:endParaRPr lang="en-US" sz="135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Aligned to Vietnam Circular 26, AABB, cGMP, Part 11, ISO 15189/27799</a:t>
            </a:r>
            <a:endParaRPr lang="en-US" sz="1350" dirty="0"/>
          </a:p>
          <a:p>
            <a:pPr lvl="1" indent="0" marL="0"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64748B"/>
                </a:solidFill>
              </a:rPr>
              <a:t>Tuân thủ quy định VN26 / AABB / cGMP / ISO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</a:rPr>
              <a:t>韌性與在地化：離線緊急作業 + 三語介面</a:t>
            </a:r>
            <a:endParaRPr lang="en-US" sz="135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Resilience &amp; localization: offline emergency ops + trilingual UI</a:t>
            </a:r>
            <a:endParaRPr lang="en-US" sz="1350" dirty="0"/>
          </a:p>
          <a:p>
            <a:pPr lvl="1" indent="0" marL="0"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64748B"/>
                </a:solidFill>
              </a:rPr>
              <a:t>Bền vững &amp; bản địa hóa: ngoại tuyến + 3 ngôn ngữ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</a:rPr>
              <a:t>互通性：HL7 FHIR R4 與 HIS/LIS 交換</a:t>
            </a:r>
            <a:endParaRPr lang="en-US" sz="135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Interoperability: HL7 FHIR R4 exchange with HIS/LIS</a:t>
            </a:r>
            <a:endParaRPr lang="en-US" sz="1350" dirty="0"/>
          </a:p>
          <a:p>
            <a:pPr lvl="1" indent="0" marL="0">
              <a:spcAft>
                <a:spcPts val="700"/>
              </a:spcAft>
              <a:buNone/>
            </a:pPr>
            <a:r>
              <a:rPr lang="en-US" sz="1100" i="1" dirty="0">
                <a:solidFill>
                  <a:srgbClr val="64748B"/>
                </a:solidFill>
              </a:rPr>
              <a:t>Liên thông HL7 FHIR R4 với HIS/LIS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系統範圍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System Scope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Phạm vi Hệ thống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00" cy="5029200"/>
          </a:xfrm>
          <a:prstGeom prst="roundRect">
            <a:avLst>
              <a:gd name="adj" fmla="val 1273"/>
            </a:avLst>
          </a:prstGeom>
          <a:solidFill>
            <a:srgbClr val="FDF2F4"/>
          </a:solidFill>
          <a:ln w="15875">
            <a:solidFill>
              <a:srgbClr val="FECDD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727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123C"/>
                </a:solidFill>
              </a:rPr>
              <a:t>✅  範圍內 (In Scope)</a:t>
            </a:r>
            <a:endParaRPr lang="en-US" sz="15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In Scope · Trong phạm vi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捐血者登記、問卷、暫緩、採血</a:t>
            </a:r>
            <a:endParaRPr lang="en-US" sz="115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Donor registration, questionnaire, deferral, collection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IDM 檢驗、ABO/Rh 血型、放行</a:t>
            </a:r>
            <a:endParaRPr lang="en-US" sz="115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IDM testing, ABO/Rh typing, release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成分製備、ISBT 128 貼碼、庫存/效期/溫控</a:t>
            </a:r>
            <a:endParaRPr lang="en-US" sz="115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Component prep, ISBT 128, inventory &amp; expiry/temp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訂單、調度、揀貨、冷鏈配送、簽收</a:t>
            </a:r>
            <a:endParaRPr lang="en-US" sz="115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Ordering, dispatch, picking, cold-chain, receipt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配對、發血、退回、床邊核對、輸注</a:t>
            </a:r>
            <a:endParaRPr lang="en-US" sz="115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Crossmatch, issue, return, bedside, transfusion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不良反應、血液警訊、雙向追溯、MTP</a:t>
            </a:r>
            <a:endParaRPr lang="en-US" sz="115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Adverse reactions, haemovigilance, lookback, MTP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MDM、IAM/RBAC、稽核、KPI、離線、FHIR</a:t>
            </a:r>
            <a:endParaRPr lang="en-US" sz="115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MDM, IAM/RBAC, audit, KPI, offline, FHIR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303520" cy="5029200"/>
          </a:xfrm>
          <a:prstGeom prst="roundRect">
            <a:avLst>
              <a:gd name="adj" fmla="val 1273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5727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</a:rPr>
              <a:t>⛔  範圍外 / 待政策決定</a:t>
            </a:r>
            <a:endParaRPr lang="en-US" sz="1500" dirty="0"/>
          </a:p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Out of Scope / Pending Policy · Ngoài phạm vi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8463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越南法規正式對應 + 12 項臨床政策簽核</a:t>
            </a:r>
            <a:endParaRPr lang="en-US" sz="115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Formal VN legal mapping &amp; 12 clinical policy sign-offs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經驗證實體冷鏈裝置（目前為模擬遙測）</a:t>
            </a:r>
            <a:endParaRPr lang="en-US" sz="115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Validated physical cold-chain devices (now simulated)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正式 ICCBBA 機構碼/產品目錄授權</a:t>
            </a:r>
            <a:endParaRPr lang="en-US" sz="115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Licensed ICCBBA facility/product catalog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完整 CSV 驗證套件 (IQ/OQ/PQ) 簽核</a:t>
            </a:r>
            <a:endParaRPr lang="en-US" sz="115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Full CSV validation package (IQ/OQ/PQ)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</a:rPr>
              <a:t>醫療器材法規查驗登記（如適用）</a:t>
            </a:r>
            <a:endParaRPr lang="en-US" sz="115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950" dirty="0">
                <a:solidFill>
                  <a:srgbClr val="475569"/>
                </a:solidFill>
              </a:rPr>
              <a:t>Medical-device regulatory registration (if applicable)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系統合規性檢核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Regulatory Compliance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Tuân thủ Quy định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123C"/>
                </a:solidFill>
              </a:rPr>
              <a:t>以「需求可追溯矩陣 (RTM)」管理：每條需求 → 程式 → 測試 → 證據 → 狀態。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Governed by a Requirements Traceability Matrix — the single source of truth for IQ/OQ/PQ and Gate sign-off.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參照標準 · Reference Standards · Tiêu chuẩn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97480" cy="411480"/>
          </a:xfrm>
          <a:prstGeom prst="roundRect">
            <a:avLst>
              <a:gd name="adj" fmla="val 48889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VN26 · Circular 26/2013/TT-BYT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2468880"/>
            <a:ext cx="2697480" cy="411480"/>
          </a:xfrm>
          <a:prstGeom prst="roundRect">
            <a:avLst>
              <a:gd name="adj" fmla="val 48889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2468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AABB Standards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63056" y="2468880"/>
            <a:ext cx="2697480" cy="411480"/>
          </a:xfrm>
          <a:prstGeom prst="roundRect">
            <a:avLst>
              <a:gd name="adj" fmla="val 48889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2468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21 CFR 606 (cGMP)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70264" y="2468880"/>
            <a:ext cx="2697480" cy="411480"/>
          </a:xfrm>
          <a:prstGeom prst="roundRect">
            <a:avLst>
              <a:gd name="adj" fmla="val 48889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2468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21 CFR Part 11 (e-records)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2697480" cy="411480"/>
          </a:xfrm>
          <a:prstGeom prst="roundRect">
            <a:avLst>
              <a:gd name="adj" fmla="val 48889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71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ISBT 128 (ICCBBA)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55848" y="2971800"/>
            <a:ext cx="2697480" cy="411480"/>
          </a:xfrm>
          <a:prstGeom prst="roundRect">
            <a:avLst>
              <a:gd name="adj" fmla="val 48889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2971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ISO 15189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63056" y="2971800"/>
            <a:ext cx="2697480" cy="411480"/>
          </a:xfrm>
          <a:prstGeom prst="roundRect">
            <a:avLst>
              <a:gd name="adj" fmla="val 48889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2971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ISO 27799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970264" y="2971800"/>
            <a:ext cx="2697480" cy="411480"/>
          </a:xfrm>
          <a:prstGeom prst="roundRect">
            <a:avLst>
              <a:gd name="adj" fmla="val 48889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70264" y="29718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WHO/ISBT haemovigilance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合規 Gate 制度 · Compliance Gates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023360"/>
            <a:ext cx="91440" cy="1325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148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1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工程安全 · Engineering Safety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AUTH · STATE · AUDIT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51960" y="402336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51960" y="4023360"/>
            <a:ext cx="91440" cy="1325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41148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2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臨床流程 · Clinical Workflow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CROSSMATCH · BEDSIDE · MTP · COLD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55280" y="402336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55280" y="4023360"/>
            <a:ext cx="91440" cy="132588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2" name="Text 30"/>
          <p:cNvSpPr/>
          <p:nvPr/>
        </p:nvSpPr>
        <p:spPr>
          <a:xfrm>
            <a:off x="8183880" y="411480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3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法規品質 · Regulatory Quality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CSV (IQ/OQ/PQ) · TRACE · FHIR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5778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6509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</a:rPr>
              <a:t>誠實揭露： </a:t>
            </a:r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Gate 1 工程安全與多數 Gate 2 臨床規則已實作並通過自動測試；冷鏈實機、機構隔離連線驗證、完整 CSV 與法規簽核仍為上線前待辦。 / Engineering safety &amp; most clinical rules are implemented and unit-tested; cold-chain, facility-isolation evidence, full CSV and regulatory sign-off remain open before go-live.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合規檢核重點（RTM 節錄）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Key Compliance Controls (RTM)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Kiểm soát Tuân thủ (RTM)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0"/>
                <a:gridCol w="137160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RTM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需求 Requirement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標準 Std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狀態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操作者身分由伺服器驗證 · Server-verified actor identity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FDA211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AUTH-04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生產禁用 demo 登入 (fail-closed) · Demo login disabled in prod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FDA211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血袋生命週期受控、非法轉移阻擋 · Lifecycle guarded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AABB·606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未驗放行阻斷 · No release before negative IDM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VN26·AABB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ABO/Rh 依血品類別判定 · Compatibility per 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AABB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床邊雙人核對 · Two-person bedside verification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AABB·WHO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EMG-01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MTP 強制 approver/RhD/SLA · Emergency policy enforced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AABB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LBL-01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ISBT128 DIN + ISO7064 檢查碼 · DIN parse &amp; check char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ISBT128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AUD-02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稽核 hash-chain 可驗證 · Verifiable audit chain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FDA211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FHIR R4 七類資源對應 · Seven-resource mapping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AUTH-03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機構隔離 (RLS/ABAC) 待連線測試證據 · Facility scope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ISO27799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STATE-03/04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多表交易/多軸狀態 · Atomic tx &amp; multi-axis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606·AABB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稽核 append-only DB 強制待證據 · Append-only enforce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FDA211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冷鏈裝置/excursion/CAPA 目前模擬 · Cold chain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VN26·GMP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VAL/REG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套件 + 越南法規簽核 · CSV &amp; regulatory sign-off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BECS·VN26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系統關聯圖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System Relationship Diagram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Sơ đồ Quan hệ Hệ thống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2121408" cy="1371600"/>
          </a:xfrm>
          <a:prstGeom prst="roundRect">
            <a:avLst>
              <a:gd name="adj" fmla="val 4667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78308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① Donor &amp; LIMS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捐血者・檢驗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88336" y="224028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52928" y="1783080"/>
            <a:ext cx="2121408" cy="1371600"/>
          </a:xfrm>
          <a:prstGeom prst="roundRect">
            <a:avLst>
              <a:gd name="adj" fmla="val 4667"/>
            </a:avLst>
          </a:prstGeom>
          <a:solidFill>
            <a:srgbClr val="FFFBEB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62656" y="178308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② Components &amp; Inventory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製備・庫存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74336" y="224028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38928" y="1783080"/>
            <a:ext cx="2121408" cy="1371600"/>
          </a:xfrm>
          <a:prstGeom prst="roundRect">
            <a:avLst>
              <a:gd name="adj" fmla="val 4667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48656" y="178308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③ Orders &amp; Logistics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訂單・物流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0336" y="224028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24928" y="1783080"/>
            <a:ext cx="2121408" cy="1371600"/>
          </a:xfrm>
          <a:prstGeom prst="roundRect">
            <a:avLst>
              <a:gd name="adj" fmla="val 4667"/>
            </a:avLst>
          </a:prstGeom>
          <a:solidFill>
            <a:srgbClr val="F0FDF4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34656" y="178308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④ Crossmatch &amp; Issue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配血・發血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46336" y="224028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10928" y="1783080"/>
            <a:ext cx="2121408" cy="1371600"/>
          </a:xfrm>
          <a:prstGeom prst="roundRect">
            <a:avLst>
              <a:gd name="adj" fmla="val 4667"/>
            </a:avLst>
          </a:prstGeom>
          <a:solidFill>
            <a:srgbClr val="FAF5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820656" y="1783080"/>
            <a:ext cx="1901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⑤ Haemovigilance</a:t>
            </a:r>
            <a:endParaRPr lang="en-US" sz="11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血液警訊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840480"/>
            <a:ext cx="10972800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 w="15875">
            <a:solidFill>
              <a:srgbClr val="0F172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8404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共用核心 Shared Core   </a:t>
            </a:r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</a:rPr>
              <a:t>State Machine · Alert Service · Offline Sync · Append-only Audit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627632" y="3154680"/>
            <a:ext cx="0" cy="685800"/>
          </a:xfrm>
          <a:prstGeom prst="line">
            <a:avLst/>
          </a:prstGeom>
          <a:noFill/>
          <a:ln w="317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913632" y="3154680"/>
            <a:ext cx="0" cy="685800"/>
          </a:xfrm>
          <a:prstGeom prst="line">
            <a:avLst/>
          </a:prstGeom>
          <a:noFill/>
          <a:ln w="317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99632" y="3154680"/>
            <a:ext cx="0" cy="685800"/>
          </a:xfrm>
          <a:prstGeom prst="line">
            <a:avLst/>
          </a:prstGeom>
          <a:noFill/>
          <a:ln w="317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485632" y="3154680"/>
            <a:ext cx="0" cy="685800"/>
          </a:xfrm>
          <a:prstGeom prst="line">
            <a:avLst/>
          </a:prstGeom>
          <a:noFill/>
          <a:ln w="317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771632" y="3154680"/>
            <a:ext cx="0" cy="685800"/>
          </a:xfrm>
          <a:prstGeom prst="line">
            <a:avLst/>
          </a:prstGeom>
          <a:noFill/>
          <a:ln w="317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893808" y="2468880"/>
            <a:ext cx="-4297680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66928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C2626"/>
                </a:solidFill>
              </a:rPr>
              <a:t>⑤→② 凍結同批 / ⑤→① 標記捐血者  (exception cascade)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5074920"/>
            <a:ext cx="45720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4919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正常血流 Normal flow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0" y="5074920"/>
            <a:ext cx="45720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919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異常連動 Exception cascade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138160" y="5074920"/>
            <a:ext cx="45720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0" y="4919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核心服務 Core link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主要作業程序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Core Operating Procedure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Quy trình Vận hành Chính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E123C"/>
                </a:solidFill>
              </a:rPr>
              <a:t>流程線以色彩標示轉移性質 · Colored lines denote transition type · Màu sắc cho loại chuyển trạng thái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73152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78308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Collection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COLLECTED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97480" y="178308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783080"/>
            <a:ext cx="73152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843784" y="178308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Prep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QUARANTINE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78308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783080"/>
            <a:ext cx="73152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992624" y="178308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IDM Testing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ABO/Rh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95160" y="178308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95160" y="1783080"/>
            <a:ext cx="73152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141464" y="178308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Inventory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AVAILABLE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44000" y="178308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0" y="1783080"/>
            <a:ext cx="73152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9290304" y="178308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Order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RESERVED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77440" y="2139696"/>
            <a:ext cx="3200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26280" y="2139696"/>
            <a:ext cx="3200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75120" y="2139696"/>
            <a:ext cx="3200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3960" y="2139696"/>
            <a:ext cx="3200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58400" y="2496312"/>
            <a:ext cx="0" cy="566928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0" y="306324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0" y="3063240"/>
            <a:ext cx="73152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9290304" y="306324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Cold-chain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IN_TRANSIT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306324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95160" y="3063240"/>
            <a:ext cx="73152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7141464" y="306324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Receipt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RECEIVED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306324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063240"/>
            <a:ext cx="73152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4992624" y="306324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Crossmatch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compatible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697480" y="306324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697480" y="3063240"/>
            <a:ext cx="73152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2843784" y="306324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Issue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ISSUED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3063240"/>
            <a:ext cx="182880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" y="3063240"/>
            <a:ext cx="73152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3063240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Bedside 2P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→TRANSFUSED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823960" y="3419856"/>
            <a:ext cx="-3200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675120" y="3419856"/>
            <a:ext cx="-3200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526280" y="3419856"/>
            <a:ext cx="-3200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377440" y="3419856"/>
            <a:ext cx="-3200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48640" y="452628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" y="4526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6534"/>
                </a:solidFill>
              </a:rPr>
              <a:t>TRANSFUSED ✓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463040" y="3776472"/>
            <a:ext cx="0" cy="749808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4846320" y="452628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46320" y="4526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1B1B"/>
                </a:solidFill>
              </a:rPr>
              <a:t>DISCARDED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760720" y="2496312"/>
            <a:ext cx="0" cy="749808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760720" y="3776472"/>
            <a:ext cx="0" cy="749808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069580" y="452628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069580" y="4526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Return ≤30min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144000" y="5394960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9144000" y="53949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</a:rPr>
              <a:t>Offline Outbox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611880" y="3776472"/>
            <a:ext cx="274320" cy="1618488"/>
          </a:xfrm>
          <a:prstGeom prst="line">
            <a:avLst/>
          </a:prstGeom>
          <a:noFill/>
          <a:ln w="31750">
            <a:solidFill>
              <a:srgbClr val="2563EB"/>
            </a:solidFill>
            <a:prstDash val="dash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40080" y="6263640"/>
            <a:ext cx="45720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88720" y="6108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正常推進 Normal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74720" y="6263640"/>
            <a:ext cx="457200" cy="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23360" y="6108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拒收/銷毀 Reject/Discard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09360" y="6263640"/>
            <a:ext cx="45720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58000" y="6108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條件退回 Return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144000" y="6263640"/>
            <a:ext cx="4572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92640" y="6108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離線/同步 Offline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血袋狀態機生命週期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Blood Unit State Machine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Máy Trạng thái Túi máu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E123C"/>
                </a:solidFill>
              </a:rPr>
              <a:t>終端狀態不可逆；每次轉移皆檢查前置條件與權限 · Terminal states irreversible; every transition guarded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28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1337"/>
                </a:solidFill>
              </a:rPr>
              <a:t>COLLECTED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214884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70632" y="1828800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70632" y="1828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1337"/>
                </a:solidFill>
              </a:rPr>
              <a:t>QUARANTINE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28032" y="214884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92624" y="1828800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92624" y="1828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1337"/>
                </a:solidFill>
              </a:rPr>
              <a:t>AVAILABLE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50024" y="214884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14616" y="1828800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14616" y="1828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1337"/>
                </a:solidFill>
              </a:rPr>
              <a:t>RESERVED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72016" y="214884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36608" y="1828800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36608" y="1828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1337"/>
                </a:solidFill>
              </a:rPr>
              <a:t>PICKED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246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1337"/>
                </a:solidFill>
              </a:rPr>
              <a:t>IN_TRANSIT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356616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770632" y="3246120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70632" y="3246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1337"/>
                </a:solidFill>
              </a:rPr>
              <a:t>RECEIVED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356616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992624" y="3246120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92624" y="3246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1337"/>
                </a:solidFill>
              </a:rPr>
              <a:t>CROSSMATCHED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50024" y="356616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14616" y="3246120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14616" y="3246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1337"/>
                </a:solidFill>
              </a:rPr>
              <a:t>ISSUED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72016" y="3566160"/>
            <a:ext cx="164592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436608" y="3246120"/>
            <a:ext cx="2057400" cy="6400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436608" y="32461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TRANSFUSED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465308" y="2468880"/>
            <a:ext cx="0" cy="77724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770632" y="4800600"/>
            <a:ext cx="2057400" cy="594360"/>
          </a:xfrm>
          <a:prstGeom prst="roundRect">
            <a:avLst>
              <a:gd name="adj" fmla="val 10769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70632" y="4800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DISCARDED (IDM+)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99332" y="2468880"/>
            <a:ext cx="0" cy="2331720"/>
          </a:xfrm>
          <a:prstGeom prst="line">
            <a:avLst/>
          </a:prstGeom>
          <a:noFill/>
          <a:ln w="31750">
            <a:solidFill>
              <a:srgbClr val="DC2626"/>
            </a:solidFill>
            <a:prstDash val="dash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214616" y="4800600"/>
            <a:ext cx="2057400" cy="594360"/>
          </a:xfrm>
          <a:prstGeom prst="roundRect">
            <a:avLst>
              <a:gd name="adj" fmla="val 10769"/>
            </a:avLst>
          </a:prstGeom>
          <a:solidFill>
            <a:srgbClr val="FEF3C7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214616" y="4800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RETURNED → AVAILABLE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436608" y="4800600"/>
            <a:ext cx="2057400" cy="594360"/>
          </a:xfrm>
          <a:prstGeom prst="roundRect">
            <a:avLst>
              <a:gd name="adj" fmla="val 10769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436608" y="480060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</a:rPr>
              <a:t>WASTED (&gt;30min/fail)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465308" y="3886200"/>
            <a:ext cx="0" cy="914400"/>
          </a:xfrm>
          <a:prstGeom prst="line">
            <a:avLst/>
          </a:prstGeom>
          <a:noFill/>
          <a:ln w="31750">
            <a:solidFill>
              <a:srgbClr val="D97706"/>
            </a:solidFill>
            <a:prstDash val="dash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7790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</a:rPr>
              <a:t>守門範例： </a:t>
            </a:r>
            <a:pPr indent="0" marL="0">
              <a:buNone/>
            </a:pPr>
            <a:r>
              <a:rPr lang="en-US" sz="1050" dirty="0">
                <a:solidFill>
                  <a:srgbClr val="1E40AF"/>
                </a:solidFill>
              </a:rPr>
              <a:t>QUARANTINE→AVAILABLE 需 IDM 陰性且不在 Lookback；ISSUED→TRANSFUSED 需床邊雙人核對通過。 / Guard: release needs negative IDM &amp; no lookback; transfusion needs two-person bedside check.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各子系統的目的與功能 (1/2)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Subsystems (1/2)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Phân hệ (1/2)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48463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611880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556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55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LIMS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1214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捐血中心站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Donor Center · Trạm Hiến máu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目的：前線報到與採血。功能：CCCD 驗證、健康問卷與暫緩、資格檢核、採血與 ISBT128 DIN、IDM 與 ABO/Rh 檢驗、放行、罕見血型管理。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Frontline intake &amp; phlebotomy: identity, questionnaire/deferral, eligibility, collection+DIN, IDM/ABO-Rh testing, release, rare donors.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23C"/>
                </a:solidFill>
              </a:rPr>
              <a:t>SOP1–2 · DonorScreener · Nurse · LabTech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3611880" cy="48463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554480"/>
            <a:ext cx="3611880" cy="822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17556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755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HUB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0" y="21214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供應鏈中樞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Supply Hub · Hub Cung ứng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274320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目的：倉儲物流與冷鏈完整性。功能：成分製備 (PRBC/FFP/PLT) 與貼碼、即時庫存/效期/溫控、調度揀貨、冷鏈運輸監控、低水位/到期警報。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Warehouse logistics &amp; cold chain: component prep &amp; labeling, real-time inventory, dispatch/picking, transport monitoring, alerts.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6035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23C"/>
                </a:solidFill>
              </a:rPr>
              <a:t>SOP3–5 · WarehouseIssuer · Dispatcher · Courier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46720" y="1554480"/>
            <a:ext cx="3611880" cy="48463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554480"/>
            <a:ext cx="3611880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17556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755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HOSPITAL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0" y="21214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臨床節點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Clinical Node · Nút Lâm sàng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274320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目的：醫院需求、配血與床邊安全。功能：常規/緊急訂單、MTP 啟動、交叉配對、發血/退回、床邊雙人核對與輸注確認、不良反應通報。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Hospital ordering, crossmatch &amp; bedside safety: routine/emergency orders, MTP, crossmatch, issue/return, two-person bedside, reactions.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6035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23C"/>
                </a:solidFill>
              </a:rPr>
              <a:t>SOP6–8,10 · HospitalOperator · Doctor · Nurse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各子系統的目的與功能 (2/2)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Subsystems (2/2)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Phân hệ (2/2)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48463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3611880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556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55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NATIONAL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1214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戰略情報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Strategic Intel · Tình báo CL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目的：企業級可視性與監管監督。功能：全國庫存分布、跨機構 KPI 看板、合規稽核軌跡檢視、血液警訊與雙向追溯總覽、調度決策支援。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Enterprise visibility &amp; oversight: national inventory, cross-facility KPIs, audit-trail review, haemovigilance overview, allocation support.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6035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23C"/>
                </a:solidFill>
              </a:rPr>
              <a:t>SOP9 · Manager · NationalCommander · Auditor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0" y="1554480"/>
            <a:ext cx="3611880" cy="48463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554480"/>
            <a:ext cx="3611880" cy="822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17556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755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MDM / IAM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0" y="21214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主資料庫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Master Database · CSDL Chính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274320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目的：主檔治理與身分權限。功能：機構 (HUB/中心/醫院) 管理、使用者與 RBAC 角色矩陣、安全政策、ISBT128 產品目錄、主資料同步與多租戶隔離。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Master-data governance &amp; IAM: organizations, users &amp; RBAC matrix, security policy, ISBT128 catalog, master-data sync &amp; tenant isolation.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80560" y="6035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23C"/>
                </a:solidFill>
              </a:rPr>
              <a:t>Admin (System Root)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46720" y="1554480"/>
            <a:ext cx="3611880" cy="484632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1554480"/>
            <a:ext cx="3611880" cy="822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17556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DF2F4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75564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81337"/>
                </a:solidFill>
              </a:rPr>
              <a:t>CORE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0" y="21214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共用核心服務</a:t>
            </a:r>
            <a:endParaRPr lang="en-US" sz="13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Shared Core · Lõi Chung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274320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目的：跨子系統安全與一致性守門員。功能：血袋狀態機（轉移守衛）、全域警報、append-only 稽核 hash chain、離線對帳、FHIR/ISBT128 轉接器。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Cross-subsystem safety gatekeeper: state machine, global alerts, append-only audit hash chain, offline reconciliation, FHIR/ISBT128 adapters.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6035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E123C"/>
                </a:solidFill>
              </a:rPr>
              <a:t>stateMachine · auditChain · offlineSync · FhirAdapter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角色權限與資安稽核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RBAC, Security &amp; Audit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RBAC, Bảo mật &amp; Kiểm toán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角色 × 子系統權限矩陣（API 層強制） · Role × Subsystem matrix (enforced at API layer)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68096"/>
                <a:gridCol w="768096"/>
                <a:gridCol w="768096"/>
                <a:gridCol w="768096"/>
                <a:gridCol w="76809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NAT'L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133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LabTech / MedReviewer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/ Dispatcher / Courier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HospitalOperator / Doctor / Nurse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/ Commander / Auditor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783080"/>
            <a:ext cx="3886200" cy="2240280"/>
          </a:xfrm>
          <a:prstGeom prst="roundRect">
            <a:avLst>
              <a:gd name="adj" fmla="val 2857"/>
            </a:avLst>
          </a:prstGeom>
          <a:solidFill>
            <a:srgbClr val="FDF2F4"/>
          </a:solidFill>
          <a:ln w="15875">
            <a:solidFill>
              <a:srgbClr val="FECDD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901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1337"/>
                </a:solidFill>
              </a:rPr>
              <a:t>🔐 身分與授權 · Identity &amp; Authz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909560" y="22860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伺服器簽章會話 token（非用戶端 header）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API 層 RBAC + 機構範圍 ABAC（生產 fail-closed）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生產禁 demo 登入；bcrypt 密碼雜湊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伺服器用 service_role；anon Data API 鎖定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26680" y="4160520"/>
            <a:ext cx="388620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909560" y="4279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1337"/>
                </a:solidFill>
              </a:rPr>
              <a:t>📜 稽核與不可竄改 · Audit &amp; Tamper-evidence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09560" y="466344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append-only 稽核（DB trigger + RLS）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hash chain 串接，斷鏈/竄改可偵測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驗證端點 /api/v1/audit-events/verify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</a:rPr>
              <a:t>紀錄 actor / before-after / requestId / reason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1264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Configurable in MDM; enforced server-side. · Có thể cấu hình trong MDM; thực thi phía máy chủ.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技術架構與雲端部署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Architecture &amp; Cloud Deployment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Kiến trúc &amp; Triển khai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331720" cy="1005840"/>
          </a:xfrm>
          <a:prstGeom prst="roundRect">
            <a:avLst>
              <a:gd name="adj" fmla="val 6364"/>
            </a:avLst>
          </a:prstGeom>
          <a:solidFill>
            <a:srgbClr val="FDF2F4"/>
          </a:solidFill>
          <a:ln w="15875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Browser / Client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繁中 · EN · VI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80360" y="2514600"/>
            <a:ext cx="7772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08960" y="2011680"/>
            <a:ext cx="2331720" cy="1005840"/>
          </a:xfrm>
          <a:prstGeom prst="roundRect">
            <a:avLst>
              <a:gd name="adj" fmla="val 6364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Firebase App Hosting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asia-east1 · Cloud Run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40680" y="2514600"/>
            <a:ext cx="7772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2011680"/>
            <a:ext cx="2331720" cy="1005840"/>
          </a:xfrm>
          <a:prstGeom prst="roundRect">
            <a:avLst>
              <a:gd name="adj" fmla="val 6364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Next.js 16 App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React 19 + API routes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2514600"/>
            <a:ext cx="777240" cy="0"/>
          </a:xfrm>
          <a:prstGeom prst="line">
            <a:avLst/>
          </a:prstGeom>
          <a:noFill/>
          <a:ln w="3175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0" y="2011680"/>
            <a:ext cx="2331720" cy="1005840"/>
          </a:xfrm>
          <a:prstGeom prst="roundRect">
            <a:avLst>
              <a:gd name="adj" fmla="val 6364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011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Supabase PostgreSQL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service_role · RLS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4320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HTTPS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0" y="3657600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6928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HIS / LIS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HL7 FHIR R4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3017520"/>
            <a:ext cx="0" cy="640080"/>
          </a:xfrm>
          <a:prstGeom prst="line">
            <a:avLst/>
          </a:prstGeom>
          <a:noFill/>
          <a:ln w="31750">
            <a:solidFill>
              <a:srgbClr val="7C3AED"/>
            </a:solidFill>
            <a:prstDash val="dash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0" y="3657600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EFF6FF"/>
          </a:solidFill>
          <a:ln w="15875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0" y="3657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IndexedDB Outbox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offline sync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0" y="3017520"/>
            <a:ext cx="1463040" cy="640080"/>
          </a:xfrm>
          <a:prstGeom prst="line">
            <a:avLst/>
          </a:prstGeom>
          <a:noFill/>
          <a:ln w="31750">
            <a:solidFill>
              <a:srgbClr val="2563EB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48006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800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</a:rPr>
              <a:t>前端 Frontend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Next.js 16 · React 19 · Tailwind 4 · 三語 i18n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48006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34840" y="4800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</a:rPr>
              <a:t>後端/資料 Backend/Data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Next.js API routes · Supabase/PostgreSQL · RLS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0" y="4800600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138160" y="4800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23C"/>
                </a:solidFill>
              </a:rPr>
              <a:t>部署 Deployment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Firebase App Hosting · Cloud Run · asia-east1 · git-triggered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生產硬化：NODE_ENV=production + VN_BECS_ENFORCE_API_RBAC 關 demo 登入、強制 RBAC；密鑰於 Secret Manager。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互通性與離線容錯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Interoperability &amp; Offline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Liên thông &amp; Ngoại tuyến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DF2F4"/>
          </a:solidFill>
          <a:ln w="15875">
            <a:solidFill>
              <a:srgbClr val="FECDD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1337"/>
                </a:solidFill>
              </a:rPr>
              <a:t>🔗 互通標準 · Interoperability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</a:rPr>
              <a:t>HL7 FHIR R4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475569"/>
                </a:solidFill>
              </a:rPr>
              <a:t>Patient · ServiceRequest · Specimen · DiagnosticReport · BiologicallyDerivedProduct · SupplyDelivery · Procedure · AdverseEvent (7+ resources, bundle query)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</a:rPr>
              <a:t>ISBT 128 (ICCBBA)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DIN/產品碼解析、ISO 7064 (MOD 37,2) 檢查碼、標籤結構驗證 / DIN &amp; product code parsing, ISO 7064 check char, label structure.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</a:rPr>
              <a:t>📴 離線容錯與對帳 · Offline &amp; Reconciliation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28600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</a:rPr>
              <a:t>緊急作業可離線（IndexedDB / Dexie outbox）</a:t>
            </a:r>
            <a:endParaRPr lang="en-US" sz="11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950" i="1" dirty="0">
                <a:solidFill>
                  <a:srgbClr val="64748B"/>
                </a:solidFill>
              </a:rPr>
              <a:t>Emergency ops continue offline via local outbox.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</a:rPr>
              <a:t>恢復連線由狀態機重新驗證並同步</a:t>
            </a:r>
            <a:endParaRPr lang="en-US" sz="11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950" i="1" dirty="0">
                <a:solidFill>
                  <a:srgbClr val="64748B"/>
                </a:solidFill>
              </a:rPr>
              <a:t>On reconnect the state machine re-validates &amp; syncs.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</a:rPr>
              <a:t>版本/衝突檢查；衝突送審不自動覆蓋</a:t>
            </a:r>
            <a:endParaRPr lang="en-US" sz="1100" dirty="0"/>
          </a:p>
          <a:p>
            <a:pPr lvl="1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Version/conflict checks; conflicts queued for review, no silent overwrite.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驗證測試與風險待辦</a:t>
            </a:r>
            <a:endParaRPr lang="en-US" sz="2300" dirty="0"/>
          </a:p>
          <a:p>
            <a:pPr indent="0" marL="0">
              <a:buNone/>
            </a:pPr>
            <a:r>
              <a:rPr lang="en-US" sz="1250" b="1" dirty="0">
                <a:solidFill>
                  <a:srgbClr val="BE123C"/>
                </a:solidFill>
              </a:rPr>
              <a:t>Verification &amp; Roadmap    </a:t>
            </a:r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Kiểm thử &amp; Lộ trình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FDF2F4"/>
          </a:solidFill>
          <a:ln w="15875">
            <a:solidFill>
              <a:srgbClr val="FECDD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單元測試通過 · tests passing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55848" y="155448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FDF2F4"/>
          </a:solidFill>
          <a:ln w="15875">
            <a:solidFill>
              <a:srgbClr val="FECDD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5848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55848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測試檔 · test files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63056" y="155448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FDF2F4"/>
          </a:solidFill>
          <a:ln w="15875">
            <a:solidFill>
              <a:srgbClr val="FECDD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63056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813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63056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子系統 · subsystems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70264" y="1554480"/>
            <a:ext cx="2651760" cy="1280160"/>
          </a:xfrm>
          <a:prstGeom prst="roundRect">
            <a:avLst>
              <a:gd name="adj" fmla="val 5000"/>
            </a:avLst>
          </a:prstGeom>
          <a:solidFill>
            <a:srgbClr val="FDF2F4"/>
          </a:solidFill>
          <a:ln w="15875">
            <a:solidFill>
              <a:srgbClr val="FECDD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70264" y="16276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E1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970264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合規 Gate · gates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E123C"/>
                </a:solidFill>
              </a:rPr>
              <a:t>測試涵蓋狀態機/API/RBAC/稽核不可竄改/離線衝突/緊急政策/ISBT128/FHIR。完整 CSV (IQ/OQ/PQ) 為下一階段。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上線前主要待辦 · Key pre-go-live backlog · Tồn đọng trước go-live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10972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🔴 冷鏈實體裝置整合與 excursion/CAPA 端到端驗證</a:t>
            </a:r>
            <a:endParaRPr lang="en-US" sz="1150" dirty="0"/>
          </a:p>
          <a:p>
            <a:pPr lvl="1" indent="0" marL="0">
              <a:spcAft>
                <a:spcPts val="700"/>
              </a:spcAft>
              <a:buNone/>
            </a:pPr>
            <a:r>
              <a:rPr lang="en-US" sz="950" i="1" dirty="0">
                <a:solidFill>
                  <a:srgbClr val="64748B"/>
                </a:solidFill>
              </a:rPr>
              <a:t>Physical cold-chain integration &amp; excursion/CAPA E2E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🟠 機構隔離 (RLS/ABAC) 連線測試庫驗證與證據</a:t>
            </a:r>
            <a:endParaRPr lang="en-US" sz="1150" dirty="0"/>
          </a:p>
          <a:p>
            <a:pPr lvl="1" indent="0" marL="0">
              <a:spcAft>
                <a:spcPts val="700"/>
              </a:spcAft>
              <a:buNone/>
            </a:pPr>
            <a:r>
              <a:rPr lang="en-US" sz="950" i="1" dirty="0">
                <a:solidFill>
                  <a:srgbClr val="64748B"/>
                </a:solidFill>
              </a:rPr>
              <a:t>Facility isolation verified against a live test DB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🟠 多表原子交易與多軸狀態落地</a:t>
            </a:r>
            <a:endParaRPr lang="en-US" sz="1150" dirty="0"/>
          </a:p>
          <a:p>
            <a:pPr lvl="1" indent="0" marL="0">
              <a:spcAft>
                <a:spcPts val="700"/>
              </a:spcAft>
              <a:buNone/>
            </a:pPr>
            <a:r>
              <a:rPr lang="en-US" sz="950" i="1" dirty="0">
                <a:solidFill>
                  <a:srgbClr val="64748B"/>
                </a:solidFill>
              </a:rPr>
              <a:t>Multi-table atomic transactions &amp; multi-axis status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🔴 完整 CSV 簽核；越南法規對應 + 12 項臨床政策決策</a:t>
            </a:r>
            <a:endParaRPr lang="en-US" sz="1150" dirty="0"/>
          </a:p>
          <a:p>
            <a:pPr lvl="1" indent="0" marL="0">
              <a:spcAft>
                <a:spcPts val="700"/>
              </a:spcAft>
              <a:buNone/>
            </a:pPr>
            <a:r>
              <a:rPr lang="en-US" sz="950" i="1" dirty="0">
                <a:solidFill>
                  <a:srgbClr val="64748B"/>
                </a:solidFill>
              </a:rPr>
              <a:t>Full CSV sign-off; VN regulatory mapping &amp; 12 policy decisions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🟠 稽核 hash chain 排程化完整性檢查</a:t>
            </a:r>
            <a:endParaRPr lang="en-US" sz="1150" dirty="0"/>
          </a:p>
          <a:p>
            <a:pPr lvl="1" indent="0" marL="0">
              <a:spcAft>
                <a:spcPts val="700"/>
              </a:spcAft>
              <a:buNone/>
            </a:pPr>
            <a:r>
              <a:rPr lang="en-US" sz="950" i="1" dirty="0">
                <a:solidFill>
                  <a:srgbClr val="64748B"/>
                </a:solidFill>
              </a:rPr>
              <a:t>Scheduled audit hash-chain integrity checks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81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572000" cy="4572000"/>
          </a:xfrm>
          <a:prstGeom prst="ellipse">
            <a:avLst/>
          </a:prstGeom>
          <a:solidFill>
            <a:srgbClr val="4C051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206240"/>
            <a:ext cx="4206240" cy="4206240"/>
          </a:xfrm>
          <a:prstGeom prst="ellipse">
            <a:avLst/>
          </a:prstGeom>
          <a:solidFill>
            <a:srgbClr val="BE123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謝謝聆聽 · Thank You · Xin cảm ơn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CDD3"/>
                </a:solidFill>
              </a:rPr>
              <a:t>VN-BECS V2 — 端到端血液安全平台</a:t>
            </a:r>
            <a:endParaRPr lang="en-US" sz="1600" dirty="0"/>
          </a:p>
          <a:p>
            <a:pPr indent="0" marL="0">
              <a:buNone/>
            </a:pPr>
            <a:r>
              <a:rPr lang="en-US" sz="1250" i="1" dirty="0">
                <a:solidFill>
                  <a:srgbClr val="FBCFE8"/>
                </a:solidFill>
              </a:rPr>
              <a:t>From donor to recipient: auditable, blockable, traceable. · Từ người hiến đến người nhận: kiểm toán, chặn, truy vết.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6583680" cy="502920"/>
          </a:xfrm>
          <a:prstGeom prst="roundRect">
            <a:avLst>
              <a:gd name="adj" fmla="val 49091"/>
            </a:avLst>
          </a:prstGeom>
          <a:solidFill>
            <a:srgbClr val="4C0519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463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CDD3"/>
                </a:solidFill>
              </a:rPr>
              <a:t>線上 Demo： https://vn-becs-prod--becs-v1.asia-east1.hosted.app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DA4AF"/>
                </a:solidFill>
              </a:rPr>
              <a:t>PILOT / VALIDATION — not authorized for live clinical transfusion decisions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VN-BECS V2 Technical Overview</dc:title>
  <dc:subject>PptxGenJS Presentation</dc:subject>
  <dc:creator>VN-BECS Team</dc:creator>
  <cp:lastModifiedBy>VN-BECS Team</cp:lastModifiedBy>
  <cp:revision>1</cp:revision>
  <dcterms:created xsi:type="dcterms:W3CDTF">2026-05-29T09:18:37Z</dcterms:created>
  <dcterms:modified xsi:type="dcterms:W3CDTF">2026-05-29T09:18:37Z</dcterms:modified>
</cp:coreProperties>
</file>